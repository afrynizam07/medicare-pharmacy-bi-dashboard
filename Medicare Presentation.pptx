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59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Perpetua Titling MT" panose="02020502060505020804" pitchFamily="18" charset="0"/>
      <p:regular r:id="rId22"/>
      <p:bold r:id="rId23"/>
    </p:embeddedFont>
    <p:embeddedFont>
      <p:font typeface="Playfair Display" panose="00000500000000000000" pitchFamily="2" charset="0"/>
      <p:regular r:id="rId24"/>
      <p:bold r:id="rId25"/>
      <p:italic r:id="rId26"/>
      <p:boldItalic r:id="rId27"/>
    </p:embeddedFont>
    <p:embeddedFont>
      <p:font typeface="Playfair Display Bold" panose="00000800000000000000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ry Nizam" userId="a19add664c4ebe82" providerId="LiveId" clId="{A406DB5D-6EE8-46E3-81BC-A00D8DE1EC03}"/>
    <pc:docChg chg="undo custSel addSld delSld modSld">
      <pc:chgData name="Afry Nizam" userId="a19add664c4ebe82" providerId="LiveId" clId="{A406DB5D-6EE8-46E3-81BC-A00D8DE1EC03}" dt="2026-04-02T13:21:23.094" v="12" actId="1037"/>
      <pc:docMkLst>
        <pc:docMk/>
      </pc:docMkLst>
      <pc:sldChg chg="modSp mod">
        <pc:chgData name="Afry Nizam" userId="a19add664c4ebe82" providerId="LiveId" clId="{A406DB5D-6EE8-46E3-81BC-A00D8DE1EC03}" dt="2026-04-02T13:21:23.094" v="12" actId="1037"/>
        <pc:sldMkLst>
          <pc:docMk/>
          <pc:sldMk cId="0" sldId="262"/>
        </pc:sldMkLst>
        <pc:grpChg chg="mod">
          <ac:chgData name="Afry Nizam" userId="a19add664c4ebe82" providerId="LiveId" clId="{A406DB5D-6EE8-46E3-81BC-A00D8DE1EC03}" dt="2026-04-02T13:21:23.094" v="12" actId="1037"/>
          <ac:grpSpMkLst>
            <pc:docMk/>
            <pc:sldMk cId="0" sldId="262"/>
            <ac:grpSpMk id="3" creationId="{00000000-0000-0000-0000-000000000000}"/>
          </ac:grpSpMkLst>
        </pc:grpChg>
      </pc:sldChg>
      <pc:sldChg chg="new del">
        <pc:chgData name="Afry Nizam" userId="a19add664c4ebe82" providerId="LiveId" clId="{A406DB5D-6EE8-46E3-81BC-A00D8DE1EC03}" dt="2026-04-02T13:20:05.762" v="7" actId="680"/>
        <pc:sldMkLst>
          <pc:docMk/>
          <pc:sldMk cId="2777944373" sldId="271"/>
        </pc:sldMkLst>
      </pc:sldChg>
      <pc:sldChg chg="new del">
        <pc:chgData name="Afry Nizam" userId="a19add664c4ebe82" providerId="LiveId" clId="{A406DB5D-6EE8-46E3-81BC-A00D8DE1EC03}" dt="2026-04-02T13:20:05.041" v="6" actId="680"/>
        <pc:sldMkLst>
          <pc:docMk/>
          <pc:sldMk cId="1451187450" sldId="272"/>
        </pc:sldMkLst>
      </pc:sldChg>
      <pc:sldChg chg="new del">
        <pc:chgData name="Afry Nizam" userId="a19add664c4ebe82" providerId="LiveId" clId="{A406DB5D-6EE8-46E3-81BC-A00D8DE1EC03}" dt="2026-04-02T13:20:04.699" v="5" actId="680"/>
        <pc:sldMkLst>
          <pc:docMk/>
          <pc:sldMk cId="2454566886" sldId="273"/>
        </pc:sldMkLst>
      </pc:sldChg>
      <pc:sldChg chg="new del">
        <pc:chgData name="Afry Nizam" userId="a19add664c4ebe82" providerId="LiveId" clId="{A406DB5D-6EE8-46E3-81BC-A00D8DE1EC03}" dt="2026-04-02T13:20:04.436" v="4" actId="680"/>
        <pc:sldMkLst>
          <pc:docMk/>
          <pc:sldMk cId="568705356" sldId="27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4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03EFCF-6C4E-447B-9A84-837B305233B2}" type="doc">
      <dgm:prSet loTypeId="urn:microsoft.com/office/officeart/2008/layout/AccentedPicture" loCatId="picture" qsTypeId="urn:microsoft.com/office/officeart/2005/8/quickstyle/simple1" qsCatId="simple" csTypeId="urn:microsoft.com/office/officeart/2005/8/colors/accent1_2" csCatId="accent1" phldr="1"/>
      <dgm:spPr/>
    </dgm:pt>
    <dgm:pt modelId="{3864E9A1-3A1D-4DE0-828D-DB2AE30E4972}">
      <dgm:prSet phldrT="[Text]"/>
      <dgm:spPr/>
      <dgm:t>
        <a:bodyPr/>
        <a:lstStyle/>
        <a:p>
          <a:r>
            <a:rPr lang="en-GB" dirty="0"/>
            <a:t>.</a:t>
          </a:r>
        </a:p>
      </dgm:t>
    </dgm:pt>
    <dgm:pt modelId="{C5C5C725-6B91-487F-9A90-B3FCBBBF7A84}" type="sibTrans" cxnId="{EABCA303-DFE3-443B-9FA8-C77EF6B50CF8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  <dgm:t>
        <a:bodyPr/>
        <a:lstStyle/>
        <a:p>
          <a:endParaRPr lang="en-GB"/>
        </a:p>
      </dgm:t>
      <dgm:extLst>
        <a:ext uri="{E40237B7-FDA0-4F09-8148-C483321AD2D9}">
          <dgm14:cNvPr xmlns:dgm14="http://schemas.microsoft.com/office/drawing/2010/diagram" id="0" name="" descr="Backup button on modern server room background data loss prevention system  recovery | Premium Photo">
            <a:extLst>
              <a:ext uri="{FF2B5EF4-FFF2-40B4-BE49-F238E27FC236}">
                <a16:creationId xmlns:a16="http://schemas.microsoft.com/office/drawing/2014/main" id="{B7E26F6F-223E-4C00-9C8C-AC70971705FD}"/>
              </a:ext>
            </a:extLst>
          </dgm14:cNvPr>
        </a:ext>
      </dgm:extLst>
    </dgm:pt>
    <dgm:pt modelId="{B38BE807-D505-4DCD-9419-B74044D4AD88}" type="parTrans" cxnId="{EABCA303-DFE3-443B-9FA8-C77EF6B50CF8}">
      <dgm:prSet/>
      <dgm:spPr/>
      <dgm:t>
        <a:bodyPr/>
        <a:lstStyle/>
        <a:p>
          <a:endParaRPr lang="en-GB"/>
        </a:p>
      </dgm:t>
    </dgm:pt>
    <dgm:pt modelId="{DF560BF9-2BFB-46E0-AE18-173B5F9C2FBB}" type="pres">
      <dgm:prSet presAssocID="{5103EFCF-6C4E-447B-9A84-837B305233B2}" presName="Name0" presStyleCnt="0">
        <dgm:presLayoutVars>
          <dgm:dir/>
        </dgm:presLayoutVars>
      </dgm:prSet>
      <dgm:spPr/>
    </dgm:pt>
    <dgm:pt modelId="{EE6F11DF-7BCF-49FB-81C1-5E0BDEC53949}" type="pres">
      <dgm:prSet presAssocID="{C5C5C725-6B91-487F-9A90-B3FCBBBF7A84}" presName="picture_1" presStyleLbl="bgImgPlace1" presStyleIdx="0" presStyleCnt="1" custScaleY="161744" custLinFactNeighborY="12784"/>
      <dgm:spPr/>
    </dgm:pt>
    <dgm:pt modelId="{735E740E-CFF3-415D-8825-B988958943CB}" type="pres">
      <dgm:prSet presAssocID="{3864E9A1-3A1D-4DE0-828D-DB2AE30E4972}" presName="text_1" presStyleLbl="node1" presStyleIdx="0" presStyleCnt="0" custScaleX="102329" custScaleY="103731">
        <dgm:presLayoutVars>
          <dgm:bulletEnabled val="1"/>
        </dgm:presLayoutVars>
      </dgm:prSet>
      <dgm:spPr/>
    </dgm:pt>
    <dgm:pt modelId="{CA29C7CD-12F8-4B34-8FC8-0D15597CA22F}" type="pres">
      <dgm:prSet presAssocID="{5103EFCF-6C4E-447B-9A84-837B305233B2}" presName="maxNode" presStyleCnt="0"/>
      <dgm:spPr/>
    </dgm:pt>
    <dgm:pt modelId="{2D01F344-DF28-4D92-8D25-369834B5D754}" type="pres">
      <dgm:prSet presAssocID="{5103EFCF-6C4E-447B-9A84-837B305233B2}" presName="Name33" presStyleCnt="0"/>
      <dgm:spPr/>
    </dgm:pt>
  </dgm:ptLst>
  <dgm:cxnLst>
    <dgm:cxn modelId="{EABCA303-DFE3-443B-9FA8-C77EF6B50CF8}" srcId="{5103EFCF-6C4E-447B-9A84-837B305233B2}" destId="{3864E9A1-3A1D-4DE0-828D-DB2AE30E4972}" srcOrd="0" destOrd="0" parTransId="{B38BE807-D505-4DCD-9419-B74044D4AD88}" sibTransId="{C5C5C725-6B91-487F-9A90-B3FCBBBF7A84}"/>
    <dgm:cxn modelId="{A5849C19-0321-42F6-A6AB-6058B9415724}" type="presOf" srcId="{C5C5C725-6B91-487F-9A90-B3FCBBBF7A84}" destId="{EE6F11DF-7BCF-49FB-81C1-5E0BDEC53949}" srcOrd="0" destOrd="0" presId="urn:microsoft.com/office/officeart/2008/layout/AccentedPicture"/>
    <dgm:cxn modelId="{7BFDBA3E-D9DE-4AA2-9607-869BFAE70D01}" type="presOf" srcId="{5103EFCF-6C4E-447B-9A84-837B305233B2}" destId="{DF560BF9-2BFB-46E0-AE18-173B5F9C2FBB}" srcOrd="0" destOrd="0" presId="urn:microsoft.com/office/officeart/2008/layout/AccentedPicture"/>
    <dgm:cxn modelId="{3EDFEDB3-D795-44E1-97B3-75CF848532D1}" type="presOf" srcId="{3864E9A1-3A1D-4DE0-828D-DB2AE30E4972}" destId="{735E740E-CFF3-415D-8825-B988958943CB}" srcOrd="0" destOrd="0" presId="urn:microsoft.com/office/officeart/2008/layout/AccentedPicture"/>
    <dgm:cxn modelId="{AD5E6FD0-C081-4383-A9EF-6A3C13CFC47E}" type="presParOf" srcId="{DF560BF9-2BFB-46E0-AE18-173B5F9C2FBB}" destId="{EE6F11DF-7BCF-49FB-81C1-5E0BDEC53949}" srcOrd="0" destOrd="0" presId="urn:microsoft.com/office/officeart/2008/layout/AccentedPicture"/>
    <dgm:cxn modelId="{6F1610FA-0D35-4C13-BE5F-DFAC23606C63}" type="presParOf" srcId="{DF560BF9-2BFB-46E0-AE18-173B5F9C2FBB}" destId="{735E740E-CFF3-415D-8825-B988958943CB}" srcOrd="1" destOrd="0" presId="urn:microsoft.com/office/officeart/2008/layout/AccentedPicture"/>
    <dgm:cxn modelId="{D6B25FB4-736C-4694-8410-86DC0DF7DB11}" type="presParOf" srcId="{DF560BF9-2BFB-46E0-AE18-173B5F9C2FBB}" destId="{CA29C7CD-12F8-4B34-8FC8-0D15597CA22F}" srcOrd="2" destOrd="0" presId="urn:microsoft.com/office/officeart/2008/layout/AccentedPicture"/>
    <dgm:cxn modelId="{15DD35F8-55B3-4BAE-A7CC-F2D80DE7C850}" type="presParOf" srcId="{CA29C7CD-12F8-4B34-8FC8-0D15597CA22F}" destId="{2D01F344-DF28-4D92-8D25-369834B5D754}" srcOrd="0" destOrd="0" presId="urn:microsoft.com/office/officeart/2008/layout/AccentedPicture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6F11DF-7BCF-49FB-81C1-5E0BDEC53949}">
      <dsp:nvSpPr>
        <dsp:cNvPr id="0" name=""/>
        <dsp:cNvSpPr/>
      </dsp:nvSpPr>
      <dsp:spPr>
        <a:xfrm>
          <a:off x="0" y="-38108"/>
          <a:ext cx="3594826" cy="7416346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E740E-CFF3-415D-8825-B988958943CB}">
      <dsp:nvSpPr>
        <dsp:cNvPr id="0" name=""/>
        <dsp:cNvSpPr/>
      </dsp:nvSpPr>
      <dsp:spPr>
        <a:xfrm>
          <a:off x="111559" y="3160218"/>
          <a:ext cx="2832483" cy="285378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0" tIns="165100" rIns="165100" bIns="165100" numCol="1" spcCol="1270" anchor="b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.</a:t>
          </a:r>
        </a:p>
      </dsp:txBody>
      <dsp:txXfrm>
        <a:off x="111559" y="3160218"/>
        <a:ext cx="2832483" cy="2853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ccentedPicture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txAnchorVert" val="b"/>
              <dgm:param type="parTxLTRAlign" val="l"/>
              <dgm:param type="shpTxLTRAlignCh" val="l"/>
              <dgm:param type="parTxRTLAlign" val="l"/>
              <dgm:param type="shpTxRTLAlignCh" val="l"/>
            </dgm:alg>
          </dgm:if>
          <dgm:else name="Name15">
            <dgm:alg type="tx">
              <dgm:param type="txAnchorVert" val="b"/>
              <dgm:param type="parTxLTRAlign" val="r"/>
              <dgm:param type="shpTxLTRAlignCh" val="r"/>
              <dgm:param type="parTxRTLAlign" val="r"/>
              <dgm:param type="shpTxRTLAlignCh" val="r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fallback" val="1D"/>
                <dgm:param type="horzAlign" val="l"/>
                <dgm:param type="nodeHorzAlign" val="l"/>
              </dgm:alg>
            </dgm:if>
            <dgm:else name="Name20">
              <dgm:alg type="lin">
                <dgm:param type="linDir" val="fromT"/>
                <dgm:param type="vertAlign" val="t"/>
                <dgm:param type="fallback" val="1D"/>
                <dgm:param type="horzAlign" val="r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shpTxLTRAlignCh" val="l"/>
                        <dgm:param type="parTxRTLAlign" val="r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shpTxLTRAlignCh" val="r"/>
                        <dgm:param type="parTxRTLAlign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0F108-28B2-4613-AF62-A5F1FE92740C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AB46F-3367-46BA-AC9B-D031A294A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718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F92D-6063-4C73-9740-6A458EF70C85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E120-2456-4323-9CFE-E67CADACCAC6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A317-766A-4D30-BD4D-6050E99BC6C4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64AD-9AFF-41BB-9730-A46BE7806945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5686-AF8F-480F-9493-8A3102C62D73}" type="datetime1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13F8-F699-4B8C-895B-D545816D2660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99BC-2BAD-4B27-9F73-701564EB6CD4}" type="datetime1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131C-3C74-4AC7-9FBC-F2811751B03B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6C7F-DEC0-4946-A235-31ABBC73AE0C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4752B-0E3A-4F34-AE2B-58310C424D34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13108-98AA-4F14-9B52-73F7AA4F9E38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79179-E3AA-4C82-A43C-E3EE79AF7088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8.jpe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1.jpeg"/><Relationship Id="rId7" Type="http://schemas.openxmlformats.org/officeDocument/2006/relationships/diagramLayout" Target="../diagrams/layou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33.svg"/><Relationship Id="rId10" Type="http://schemas.microsoft.com/office/2007/relationships/diagramDrawing" Target="../diagrams/drawing1.xml"/><Relationship Id="rId4" Type="http://schemas.openxmlformats.org/officeDocument/2006/relationships/image" Target="../media/image32.png"/><Relationship Id="rId9" Type="http://schemas.openxmlformats.org/officeDocument/2006/relationships/diagramColors" Target="../diagrams/colors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e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7189" y="471488"/>
            <a:ext cx="14948988" cy="3209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62"/>
              </a:lnSpc>
            </a:pPr>
            <a:r>
              <a:rPr lang="en-US" sz="6044" b="1" u="sng" dirty="0">
                <a:solidFill>
                  <a:srgbClr val="000000"/>
                </a:solidFill>
                <a:latin typeface="Perpetua Titling MT" panose="02020502060505020804" pitchFamily="18" charset="0"/>
                <a:ea typeface="Playfair Display Bold"/>
                <a:cs typeface="Playfair Display Bold"/>
                <a:sym typeface="Playfair Display Bold"/>
              </a:rPr>
              <a:t>IMPLICATIONS OF USING DATA AND INFORMATION in </a:t>
            </a:r>
            <a:r>
              <a:rPr lang="en-US" sz="6044" b="1" u="sng" dirty="0" err="1">
                <a:solidFill>
                  <a:srgbClr val="000000"/>
                </a:solidFill>
                <a:latin typeface="Perpetua Titling MT" panose="02020502060505020804" pitchFamily="18" charset="0"/>
                <a:ea typeface="Playfair Display Bold"/>
                <a:cs typeface="Playfair Display Bold"/>
                <a:sym typeface="Playfair Display Bold"/>
              </a:rPr>
              <a:t>MediCare</a:t>
            </a:r>
            <a:r>
              <a:rPr lang="en-US" sz="6044" b="1" u="sng" dirty="0">
                <a:solidFill>
                  <a:srgbClr val="000000"/>
                </a:solidFill>
                <a:latin typeface="Perpetua Titling MT" panose="02020502060505020804" pitchFamily="18" charset="0"/>
                <a:ea typeface="Playfair Display Bold"/>
                <a:cs typeface="Playfair Display Bold"/>
                <a:sym typeface="Playfair Display Bold"/>
              </a:rPr>
              <a:t> Pharmacy Chain (PVT) Ltd</a:t>
            </a:r>
          </a:p>
        </p:txBody>
      </p:sp>
      <p:sp>
        <p:nvSpPr>
          <p:cNvPr id="4" name="Freeform 4"/>
          <p:cNvSpPr/>
          <p:nvPr/>
        </p:nvSpPr>
        <p:spPr>
          <a:xfrm>
            <a:off x="12248234" y="3013057"/>
            <a:ext cx="5672235" cy="3363250"/>
          </a:xfrm>
          <a:custGeom>
            <a:avLst/>
            <a:gdLst/>
            <a:ahLst/>
            <a:cxnLst/>
            <a:rect l="l" t="t" r="r" b="b"/>
            <a:pathLst>
              <a:path w="5672235" h="3363250">
                <a:moveTo>
                  <a:pt x="0" y="0"/>
                </a:moveTo>
                <a:lnTo>
                  <a:pt x="5672235" y="0"/>
                </a:lnTo>
                <a:lnTo>
                  <a:pt x="5672235" y="3363250"/>
                </a:lnTo>
                <a:lnTo>
                  <a:pt x="0" y="3363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62000" y="5135960"/>
            <a:ext cx="2711661" cy="3131740"/>
          </a:xfrm>
          <a:custGeom>
            <a:avLst/>
            <a:gdLst/>
            <a:ahLst/>
            <a:cxnLst/>
            <a:rect l="l" t="t" r="r" b="b"/>
            <a:pathLst>
              <a:path w="2711661" h="3131740">
                <a:moveTo>
                  <a:pt x="0" y="0"/>
                </a:moveTo>
                <a:lnTo>
                  <a:pt x="2711661" y="0"/>
                </a:lnTo>
                <a:lnTo>
                  <a:pt x="2711661" y="3131740"/>
                </a:lnTo>
                <a:lnTo>
                  <a:pt x="0" y="3131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193735" y="4608126"/>
            <a:ext cx="6687095" cy="5207386"/>
          </a:xfrm>
          <a:custGeom>
            <a:avLst/>
            <a:gdLst/>
            <a:ahLst/>
            <a:cxnLst/>
            <a:rect l="l" t="t" r="r" b="b"/>
            <a:pathLst>
              <a:path w="6687095" h="5207386">
                <a:moveTo>
                  <a:pt x="0" y="0"/>
                </a:moveTo>
                <a:lnTo>
                  <a:pt x="6687095" y="0"/>
                </a:lnTo>
                <a:lnTo>
                  <a:pt x="6687095" y="5207386"/>
                </a:lnTo>
                <a:lnTo>
                  <a:pt x="0" y="5207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4207" b="-14207"/>
            </a:stretch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961815" y="8115300"/>
            <a:ext cx="6245071" cy="178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Presented By: Afry Nizam 1001953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Role: Junior Business Process Support Analyst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Organization: </a:t>
            </a:r>
            <a:r>
              <a:rPr lang="en-US" sz="2000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MediCare</a:t>
            </a:r>
            <a:r>
              <a:rPr lang="en-US" sz="2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Pharmacy Chain (PVT) Ltd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Unit: Business Process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Freeform 5"/>
          <p:cNvSpPr/>
          <p:nvPr/>
        </p:nvSpPr>
        <p:spPr>
          <a:xfrm>
            <a:off x="1460972" y="7135046"/>
            <a:ext cx="3964386" cy="1916120"/>
          </a:xfrm>
          <a:custGeom>
            <a:avLst/>
            <a:gdLst/>
            <a:ahLst/>
            <a:cxnLst/>
            <a:rect l="l" t="t" r="r" b="b"/>
            <a:pathLst>
              <a:path w="3964386" h="1916120">
                <a:moveTo>
                  <a:pt x="0" y="0"/>
                </a:moveTo>
                <a:lnTo>
                  <a:pt x="3964386" y="0"/>
                </a:lnTo>
                <a:lnTo>
                  <a:pt x="3964386" y="1916120"/>
                </a:lnTo>
                <a:lnTo>
                  <a:pt x="0" y="1916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6" name="Freeform 6"/>
          <p:cNvSpPr/>
          <p:nvPr/>
        </p:nvSpPr>
        <p:spPr>
          <a:xfrm>
            <a:off x="7620000" y="8496300"/>
            <a:ext cx="7315200" cy="1864444"/>
          </a:xfrm>
          <a:custGeom>
            <a:avLst/>
            <a:gdLst/>
            <a:ahLst/>
            <a:cxnLst/>
            <a:rect l="l" t="t" r="r" b="b"/>
            <a:pathLst>
              <a:path w="7315200" h="1864444">
                <a:moveTo>
                  <a:pt x="0" y="0"/>
                </a:moveTo>
                <a:lnTo>
                  <a:pt x="7315200" y="0"/>
                </a:lnTo>
                <a:lnTo>
                  <a:pt x="7315200" y="1864443"/>
                </a:lnTo>
                <a:lnTo>
                  <a:pt x="0" y="1864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60122" y="616752"/>
            <a:ext cx="10918061" cy="1110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Introduction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0C246CF-E85E-494C-8399-265245895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71" y="1458308"/>
            <a:ext cx="9525974" cy="4435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odern business operations uses data support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MediCare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customer prescription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creates ethical responsibilities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isks effect business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impacts business performance </a:t>
            </a:r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461DD7B5-1417-416F-AF8A-F0A0026DA3A7}"/>
              </a:ext>
            </a:extLst>
          </p:cNvPr>
          <p:cNvGrpSpPr/>
          <p:nvPr/>
        </p:nvGrpSpPr>
        <p:grpSpPr>
          <a:xfrm>
            <a:off x="11654079" y="1028700"/>
            <a:ext cx="5246370" cy="7184266"/>
            <a:chOff x="0" y="0"/>
            <a:chExt cx="812800" cy="1113031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A001A3AA-32D3-4F41-9423-1EC35CA58A89}"/>
                </a:ext>
              </a:extLst>
            </p:cNvPr>
            <p:cNvSpPr/>
            <p:nvPr/>
          </p:nvSpPr>
          <p:spPr>
            <a:xfrm>
              <a:off x="0" y="0"/>
              <a:ext cx="812800" cy="1113031"/>
            </a:xfrm>
            <a:custGeom>
              <a:avLst/>
              <a:gdLst/>
              <a:ahLst/>
              <a:cxnLst/>
              <a:rect l="l" t="t" r="r" b="b"/>
              <a:pathLst>
                <a:path w="812800" h="1113031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079090"/>
                  </a:lnTo>
                  <a:cubicBezTo>
                    <a:pt x="812800" y="1097835"/>
                    <a:pt x="797604" y="1113031"/>
                    <a:pt x="778860" y="1113031"/>
                  </a:cubicBezTo>
                  <a:lnTo>
                    <a:pt x="33940" y="1113031"/>
                  </a:lnTo>
                  <a:cubicBezTo>
                    <a:pt x="15196" y="1113031"/>
                    <a:pt x="0" y="1097835"/>
                    <a:pt x="0" y="107909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6"/>
              <a:stretch>
                <a:fillRect t="-3368" b="-3368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5" name="Freeform 5"/>
          <p:cNvSpPr/>
          <p:nvPr/>
        </p:nvSpPr>
        <p:spPr>
          <a:xfrm rot="10800000">
            <a:off x="11049000" y="7968878"/>
            <a:ext cx="6828467" cy="1963535"/>
          </a:xfrm>
          <a:custGeom>
            <a:avLst/>
            <a:gdLst/>
            <a:ahLst/>
            <a:cxnLst/>
            <a:rect l="l" t="t" r="r" b="b"/>
            <a:pathLst>
              <a:path w="7315200" h="3216072">
                <a:moveTo>
                  <a:pt x="0" y="0"/>
                </a:moveTo>
                <a:lnTo>
                  <a:pt x="7315200" y="0"/>
                </a:lnTo>
                <a:lnTo>
                  <a:pt x="7315200" y="3216071"/>
                </a:lnTo>
                <a:lnTo>
                  <a:pt x="0" y="32160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69533" y="354586"/>
            <a:ext cx="2879652" cy="3051287"/>
          </a:xfrm>
          <a:custGeom>
            <a:avLst/>
            <a:gdLst/>
            <a:ahLst/>
            <a:cxnLst/>
            <a:rect l="l" t="t" r="r" b="b"/>
            <a:pathLst>
              <a:path w="2879652" h="3051287">
                <a:moveTo>
                  <a:pt x="0" y="0"/>
                </a:moveTo>
                <a:lnTo>
                  <a:pt x="2879652" y="0"/>
                </a:lnTo>
                <a:lnTo>
                  <a:pt x="2879652" y="3051287"/>
                </a:lnTo>
                <a:lnTo>
                  <a:pt x="0" y="3051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162800" y="1880229"/>
            <a:ext cx="8588574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Implications</a:t>
            </a:r>
            <a:endParaRPr lang="en-US" sz="6799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32F8571-99ED-4A39-A617-93CF22A8B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820272"/>
            <a:ext cx="8581814" cy="3697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Patient data must stay private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Customers expect secure data handling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misuse reduces customer trust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Security improves customer confidence </a:t>
            </a:r>
          </a:p>
        </p:txBody>
      </p:sp>
      <p:pic>
        <p:nvPicPr>
          <p:cNvPr id="1026" name="Picture 2" descr="Understanding and Strengthening Capacity for Society - IEEE Technology and  Society">
            <a:extLst>
              <a:ext uri="{FF2B5EF4-FFF2-40B4-BE49-F238E27FC236}">
                <a16:creationId xmlns:a16="http://schemas.microsoft.com/office/drawing/2014/main" id="{E67AD697-F27E-44EB-8690-6EDEF8532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575" y="1927626"/>
            <a:ext cx="5791200" cy="5791200"/>
          </a:xfrm>
          <a:prstGeom prst="rect">
            <a:avLst/>
          </a:prstGeom>
          <a:noFill/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76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7" name="Freeform 7"/>
          <p:cNvSpPr/>
          <p:nvPr/>
        </p:nvSpPr>
        <p:spPr>
          <a:xfrm rot="20396133">
            <a:off x="1881326" y="7621886"/>
            <a:ext cx="5259659" cy="792467"/>
          </a:xfrm>
          <a:custGeom>
            <a:avLst/>
            <a:gdLst/>
            <a:ahLst/>
            <a:cxnLst/>
            <a:rect l="l" t="t" r="r" b="b"/>
            <a:pathLst>
              <a:path w="5259659" h="792467">
                <a:moveTo>
                  <a:pt x="0" y="0"/>
                </a:moveTo>
                <a:lnTo>
                  <a:pt x="5259658" y="0"/>
                </a:lnTo>
                <a:lnTo>
                  <a:pt x="5259658" y="792467"/>
                </a:lnTo>
                <a:lnTo>
                  <a:pt x="0" y="7924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29228" y="837271"/>
            <a:ext cx="75304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7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Implications</a:t>
            </a:r>
            <a:endParaRPr lang="en-US" sz="6799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35F2024-486C-4F15-AFC3-4A6871B89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71" y="948841"/>
            <a:ext cx="8041804" cy="5174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Organizations must follow data laws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Patients data need legal protection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Unauthorized sharing causes legal penalties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ealthcare privacy regulations must be    followed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Compliance protects company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reputation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64" name="Picture 16" descr="The Development in Transnational Legal Regimes: Consequences on the Rule of  Law">
            <a:extLst>
              <a:ext uri="{FF2B5EF4-FFF2-40B4-BE49-F238E27FC236}">
                <a16:creationId xmlns:a16="http://schemas.microsoft.com/office/drawing/2014/main" id="{B14F1F9F-7F2A-4C5A-AF30-14F3785E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3929" y="2185327"/>
            <a:ext cx="7810500" cy="62484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538189"/>
            <a:ext cx="7517900" cy="8767081"/>
            <a:chOff x="0" y="0"/>
            <a:chExt cx="1164719" cy="13582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64720" cy="1358250"/>
            </a:xfrm>
            <a:custGeom>
              <a:avLst/>
              <a:gdLst/>
              <a:ahLst/>
              <a:cxnLst/>
              <a:rect l="l" t="t" r="r" b="b"/>
              <a:pathLst>
                <a:path w="1164720" h="1358250">
                  <a:moveTo>
                    <a:pt x="23685" y="0"/>
                  </a:moveTo>
                  <a:lnTo>
                    <a:pt x="1141034" y="0"/>
                  </a:lnTo>
                  <a:cubicBezTo>
                    <a:pt x="1154115" y="0"/>
                    <a:pt x="1164720" y="10604"/>
                    <a:pt x="1164720" y="23685"/>
                  </a:cubicBezTo>
                  <a:lnTo>
                    <a:pt x="1164720" y="1334565"/>
                  </a:lnTo>
                  <a:cubicBezTo>
                    <a:pt x="1164720" y="1347646"/>
                    <a:pt x="1154115" y="1358250"/>
                    <a:pt x="1141034" y="1358250"/>
                  </a:cubicBezTo>
                  <a:lnTo>
                    <a:pt x="23685" y="1358250"/>
                  </a:lnTo>
                  <a:cubicBezTo>
                    <a:pt x="10604" y="1358250"/>
                    <a:pt x="0" y="1347646"/>
                    <a:pt x="0" y="1334565"/>
                  </a:cubicBezTo>
                  <a:lnTo>
                    <a:pt x="0" y="23685"/>
                  </a:lnTo>
                  <a:cubicBezTo>
                    <a:pt x="0" y="10604"/>
                    <a:pt x="10604" y="0"/>
                    <a:pt x="23685" y="0"/>
                  </a:cubicBezTo>
                  <a:close/>
                </a:path>
              </a:pathLst>
            </a:custGeom>
            <a:blipFill>
              <a:blip r:embed="rId3"/>
              <a:stretch>
                <a:fillRect l="-37462" r="-3746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2420600" y="6988042"/>
            <a:ext cx="5410200" cy="3207492"/>
          </a:xfrm>
          <a:custGeom>
            <a:avLst/>
            <a:gdLst/>
            <a:ahLst/>
            <a:cxnLst/>
            <a:rect l="l" t="t" r="r" b="b"/>
            <a:pathLst>
              <a:path w="6639005" h="4114800">
                <a:moveTo>
                  <a:pt x="0" y="0"/>
                </a:moveTo>
                <a:lnTo>
                  <a:pt x="6639005" y="0"/>
                </a:lnTo>
                <a:lnTo>
                  <a:pt x="66390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610600" y="800100"/>
            <a:ext cx="80010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Implications</a:t>
            </a:r>
            <a:endParaRPr lang="en-US" sz="6799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2EC2490-AE01-427D-B44C-18D3967D5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1855232"/>
            <a:ext cx="8807690" cy="3697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must be used responsibly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ermission is very important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Staff must respect customer privacy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Ethical use improves company reputation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403571" y="2350319"/>
            <a:ext cx="7517900" cy="3168728"/>
            <a:chOff x="0" y="0"/>
            <a:chExt cx="1164719" cy="4909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64720" cy="490919"/>
            </a:xfrm>
            <a:custGeom>
              <a:avLst/>
              <a:gdLst/>
              <a:ahLst/>
              <a:cxnLst/>
              <a:rect l="l" t="t" r="r" b="b"/>
              <a:pathLst>
                <a:path w="1164720" h="490919">
                  <a:moveTo>
                    <a:pt x="23685" y="0"/>
                  </a:moveTo>
                  <a:lnTo>
                    <a:pt x="1141034" y="0"/>
                  </a:lnTo>
                  <a:cubicBezTo>
                    <a:pt x="1154115" y="0"/>
                    <a:pt x="1164720" y="10604"/>
                    <a:pt x="1164720" y="23685"/>
                  </a:cubicBezTo>
                  <a:lnTo>
                    <a:pt x="1164720" y="467234"/>
                  </a:lnTo>
                  <a:cubicBezTo>
                    <a:pt x="1164720" y="480315"/>
                    <a:pt x="1154115" y="490919"/>
                    <a:pt x="1141034" y="490919"/>
                  </a:cubicBezTo>
                  <a:lnTo>
                    <a:pt x="23685" y="490919"/>
                  </a:lnTo>
                  <a:cubicBezTo>
                    <a:pt x="10604" y="490919"/>
                    <a:pt x="0" y="480315"/>
                    <a:pt x="0" y="467234"/>
                  </a:cubicBezTo>
                  <a:lnTo>
                    <a:pt x="0" y="23685"/>
                  </a:lnTo>
                  <a:cubicBezTo>
                    <a:pt x="0" y="10604"/>
                    <a:pt x="10604" y="0"/>
                    <a:pt x="23685" y="0"/>
                  </a:cubicBezTo>
                  <a:close/>
                </a:path>
              </a:pathLst>
            </a:custGeom>
            <a:blipFill>
              <a:blip r:embed="rId3"/>
              <a:stretch>
                <a:fillRect t="-29084" b="-29084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466744" y="6194718"/>
            <a:ext cx="3758950" cy="3168728"/>
            <a:chOff x="0" y="0"/>
            <a:chExt cx="582360" cy="4909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2360" cy="490919"/>
            </a:xfrm>
            <a:custGeom>
              <a:avLst/>
              <a:gdLst/>
              <a:ahLst/>
              <a:cxnLst/>
              <a:rect l="l" t="t" r="r" b="b"/>
              <a:pathLst>
                <a:path w="582360" h="490919">
                  <a:moveTo>
                    <a:pt x="47371" y="0"/>
                  </a:moveTo>
                  <a:lnTo>
                    <a:pt x="534989" y="0"/>
                  </a:lnTo>
                  <a:cubicBezTo>
                    <a:pt x="561151" y="0"/>
                    <a:pt x="582360" y="21209"/>
                    <a:pt x="582360" y="47371"/>
                  </a:cubicBezTo>
                  <a:lnTo>
                    <a:pt x="582360" y="443548"/>
                  </a:lnTo>
                  <a:cubicBezTo>
                    <a:pt x="582360" y="456112"/>
                    <a:pt x="577369" y="468161"/>
                    <a:pt x="568485" y="477044"/>
                  </a:cubicBezTo>
                  <a:cubicBezTo>
                    <a:pt x="559601" y="485928"/>
                    <a:pt x="547553" y="490919"/>
                    <a:pt x="534989" y="490919"/>
                  </a:cubicBezTo>
                  <a:lnTo>
                    <a:pt x="47371" y="490919"/>
                  </a:lnTo>
                  <a:cubicBezTo>
                    <a:pt x="34807" y="490919"/>
                    <a:pt x="22758" y="485928"/>
                    <a:pt x="13875" y="477044"/>
                  </a:cubicBezTo>
                  <a:cubicBezTo>
                    <a:pt x="4991" y="468161"/>
                    <a:pt x="0" y="456112"/>
                    <a:pt x="0" y="443548"/>
                  </a:cubicBezTo>
                  <a:lnTo>
                    <a:pt x="0" y="47371"/>
                  </a:lnTo>
                  <a:cubicBezTo>
                    <a:pt x="0" y="34807"/>
                    <a:pt x="4991" y="22758"/>
                    <a:pt x="13875" y="13875"/>
                  </a:cubicBezTo>
                  <a:cubicBezTo>
                    <a:pt x="22758" y="4991"/>
                    <a:pt x="34807" y="0"/>
                    <a:pt x="47371" y="0"/>
                  </a:cubicBezTo>
                  <a:close/>
                </a:path>
              </a:pathLst>
            </a:custGeom>
            <a:blipFill>
              <a:blip r:embed="rId4"/>
              <a:stretch>
                <a:fillRect l="-13223" r="-1322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684911" y="6089572"/>
            <a:ext cx="3236560" cy="3168728"/>
            <a:chOff x="0" y="0"/>
            <a:chExt cx="501428" cy="4909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1428" cy="490919"/>
            </a:xfrm>
            <a:custGeom>
              <a:avLst/>
              <a:gdLst/>
              <a:ahLst/>
              <a:cxnLst/>
              <a:rect l="l" t="t" r="r" b="b"/>
              <a:pathLst>
                <a:path w="501428" h="490919">
                  <a:moveTo>
                    <a:pt x="55016" y="0"/>
                  </a:moveTo>
                  <a:lnTo>
                    <a:pt x="446411" y="0"/>
                  </a:lnTo>
                  <a:cubicBezTo>
                    <a:pt x="476796" y="0"/>
                    <a:pt x="501428" y="24632"/>
                    <a:pt x="501428" y="55016"/>
                  </a:cubicBezTo>
                  <a:lnTo>
                    <a:pt x="501428" y="435902"/>
                  </a:lnTo>
                  <a:cubicBezTo>
                    <a:pt x="501428" y="466287"/>
                    <a:pt x="476796" y="490919"/>
                    <a:pt x="446411" y="490919"/>
                  </a:cubicBezTo>
                  <a:lnTo>
                    <a:pt x="55016" y="490919"/>
                  </a:lnTo>
                  <a:cubicBezTo>
                    <a:pt x="24632" y="490919"/>
                    <a:pt x="0" y="466287"/>
                    <a:pt x="0" y="435902"/>
                  </a:cubicBezTo>
                  <a:lnTo>
                    <a:pt x="0" y="55016"/>
                  </a:lnTo>
                  <a:cubicBezTo>
                    <a:pt x="0" y="24632"/>
                    <a:pt x="24632" y="0"/>
                    <a:pt x="55016" y="0"/>
                  </a:cubicBezTo>
                  <a:close/>
                </a:path>
              </a:pathLst>
            </a:custGeom>
            <a:blipFill>
              <a:blip r:embed="rId5"/>
              <a:stretch>
                <a:fillRect l="-23428" r="-23428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12559707">
            <a:off x="1548521" y="5581124"/>
            <a:ext cx="6108259" cy="5614311"/>
          </a:xfrm>
          <a:custGeom>
            <a:avLst/>
            <a:gdLst/>
            <a:ahLst/>
            <a:cxnLst/>
            <a:rect l="l" t="t" r="r" b="b"/>
            <a:pathLst>
              <a:path w="5171757" h="4689759">
                <a:moveTo>
                  <a:pt x="0" y="0"/>
                </a:moveTo>
                <a:lnTo>
                  <a:pt x="5171757" y="0"/>
                </a:lnTo>
                <a:lnTo>
                  <a:pt x="5171757" y="4689759"/>
                </a:lnTo>
                <a:lnTo>
                  <a:pt x="0" y="46897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10" name="TextBox 10"/>
          <p:cNvSpPr txBox="1"/>
          <p:nvPr/>
        </p:nvSpPr>
        <p:spPr>
          <a:xfrm>
            <a:off x="681612" y="617937"/>
            <a:ext cx="8537441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Data Threats</a:t>
            </a:r>
            <a:endParaRPr lang="en-US" sz="6799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1B9EA71-4603-4E9E-80A4-53B741DBD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325" y="2095500"/>
            <a:ext cx="8240917" cy="4435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Cyber criminals target sensitive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theft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financial losses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System failures cause data loss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Human errors increase security risks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Threats affect business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066498" y="4483501"/>
            <a:ext cx="3461251" cy="656489"/>
            <a:chOff x="0" y="0"/>
            <a:chExt cx="741804" cy="991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1804" cy="99144"/>
            </a:xfrm>
            <a:custGeom>
              <a:avLst/>
              <a:gdLst/>
              <a:ahLst/>
              <a:cxnLst/>
              <a:rect l="l" t="t" r="r" b="b"/>
              <a:pathLst>
                <a:path w="741804" h="99144">
                  <a:moveTo>
                    <a:pt x="49572" y="0"/>
                  </a:moveTo>
                  <a:lnTo>
                    <a:pt x="692232" y="0"/>
                  </a:lnTo>
                  <a:cubicBezTo>
                    <a:pt x="719610" y="0"/>
                    <a:pt x="741804" y="22194"/>
                    <a:pt x="741804" y="49572"/>
                  </a:cubicBezTo>
                  <a:lnTo>
                    <a:pt x="741804" y="49572"/>
                  </a:lnTo>
                  <a:cubicBezTo>
                    <a:pt x="741804" y="62719"/>
                    <a:pt x="736581" y="75328"/>
                    <a:pt x="727284" y="84625"/>
                  </a:cubicBezTo>
                  <a:cubicBezTo>
                    <a:pt x="717988" y="93921"/>
                    <a:pt x="705379" y="99144"/>
                    <a:pt x="692232" y="99144"/>
                  </a:cubicBezTo>
                  <a:lnTo>
                    <a:pt x="49572" y="99144"/>
                  </a:lnTo>
                  <a:cubicBezTo>
                    <a:pt x="22194" y="99144"/>
                    <a:pt x="0" y="76950"/>
                    <a:pt x="0" y="49572"/>
                  </a:cubicBezTo>
                  <a:lnTo>
                    <a:pt x="0" y="49572"/>
                  </a:lnTo>
                  <a:cubicBezTo>
                    <a:pt x="0" y="22194"/>
                    <a:pt x="22194" y="0"/>
                    <a:pt x="49572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41804" cy="137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24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09304" y="4473335"/>
            <a:ext cx="3555005" cy="656488"/>
            <a:chOff x="0" y="0"/>
            <a:chExt cx="741804" cy="991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1804" cy="99144"/>
            </a:xfrm>
            <a:custGeom>
              <a:avLst/>
              <a:gdLst/>
              <a:ahLst/>
              <a:cxnLst/>
              <a:rect l="l" t="t" r="r" b="b"/>
              <a:pathLst>
                <a:path w="741804" h="99144">
                  <a:moveTo>
                    <a:pt x="49572" y="0"/>
                  </a:moveTo>
                  <a:lnTo>
                    <a:pt x="692232" y="0"/>
                  </a:lnTo>
                  <a:cubicBezTo>
                    <a:pt x="719610" y="0"/>
                    <a:pt x="741804" y="22194"/>
                    <a:pt x="741804" y="49572"/>
                  </a:cubicBezTo>
                  <a:lnTo>
                    <a:pt x="741804" y="49572"/>
                  </a:lnTo>
                  <a:cubicBezTo>
                    <a:pt x="741804" y="62719"/>
                    <a:pt x="736581" y="75328"/>
                    <a:pt x="727284" y="84625"/>
                  </a:cubicBezTo>
                  <a:cubicBezTo>
                    <a:pt x="717988" y="93921"/>
                    <a:pt x="705379" y="99144"/>
                    <a:pt x="692232" y="99144"/>
                  </a:cubicBezTo>
                  <a:lnTo>
                    <a:pt x="49572" y="99144"/>
                  </a:lnTo>
                  <a:cubicBezTo>
                    <a:pt x="22194" y="99144"/>
                    <a:pt x="0" y="76950"/>
                    <a:pt x="0" y="49572"/>
                  </a:cubicBezTo>
                  <a:lnTo>
                    <a:pt x="0" y="49572"/>
                  </a:lnTo>
                  <a:cubicBezTo>
                    <a:pt x="0" y="22194"/>
                    <a:pt x="22194" y="0"/>
                    <a:pt x="49572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41804" cy="137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3600"/>
            </a:p>
          </p:txBody>
        </p:sp>
      </p:grpSp>
      <p:sp>
        <p:nvSpPr>
          <p:cNvPr id="9" name="Freeform 9"/>
          <p:cNvSpPr/>
          <p:nvPr/>
        </p:nvSpPr>
        <p:spPr>
          <a:xfrm>
            <a:off x="286144" y="2387140"/>
            <a:ext cx="5560709" cy="1725796"/>
          </a:xfrm>
          <a:custGeom>
            <a:avLst/>
            <a:gdLst/>
            <a:ahLst/>
            <a:cxnLst/>
            <a:rect l="l" t="t" r="r" b="b"/>
            <a:pathLst>
              <a:path w="6264740" h="1725796">
                <a:moveTo>
                  <a:pt x="0" y="0"/>
                </a:moveTo>
                <a:lnTo>
                  <a:pt x="6264740" y="0"/>
                </a:lnTo>
                <a:lnTo>
                  <a:pt x="6264740" y="1725796"/>
                </a:lnTo>
                <a:lnTo>
                  <a:pt x="0" y="1725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0800000">
            <a:off x="11811000" y="2506526"/>
            <a:ext cx="6112340" cy="1725796"/>
          </a:xfrm>
          <a:custGeom>
            <a:avLst/>
            <a:gdLst/>
            <a:ahLst/>
            <a:cxnLst/>
            <a:rect l="l" t="t" r="r" b="b"/>
            <a:pathLst>
              <a:path w="6264740" h="1725796">
                <a:moveTo>
                  <a:pt x="0" y="0"/>
                </a:moveTo>
                <a:lnTo>
                  <a:pt x="6264740" y="0"/>
                </a:lnTo>
                <a:lnTo>
                  <a:pt x="6264740" y="1725796"/>
                </a:lnTo>
                <a:lnTo>
                  <a:pt x="0" y="1725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11" name="TextBox 11"/>
          <p:cNvSpPr txBox="1"/>
          <p:nvPr/>
        </p:nvSpPr>
        <p:spPr>
          <a:xfrm>
            <a:off x="3047448" y="766699"/>
            <a:ext cx="12102307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Data Threats</a:t>
            </a:r>
            <a:endParaRPr lang="en-US" sz="6799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780682" y="4609119"/>
            <a:ext cx="2111686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084063" y="11641306"/>
            <a:ext cx="1760891" cy="320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80463" y="4610843"/>
            <a:ext cx="336124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Malware and Data Loss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E2B32606-D057-4ED9-AEE0-09CBC98F4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897" y="5024649"/>
            <a:ext cx="9501187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Confidential data may be stolen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Weak passwords increase breach risks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Hackers steal customer personal details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Breaches damage company reputation 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484CB75-6D09-4085-A5FA-7604E5ABC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2764" y="4602299"/>
            <a:ext cx="6112339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Malware damages computer systems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Ransomware locks important files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Viruses delete valuable patients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System failures cause unexpected data loss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loss effects business operations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14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236521" y="145242"/>
            <a:ext cx="8040043" cy="4955395"/>
            <a:chOff x="0" y="0"/>
            <a:chExt cx="1245613" cy="7677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5613" cy="767720"/>
            </a:xfrm>
            <a:custGeom>
              <a:avLst/>
              <a:gdLst/>
              <a:ahLst/>
              <a:cxnLst/>
              <a:rect l="l" t="t" r="r" b="b"/>
              <a:pathLst>
                <a:path w="1245613" h="767720">
                  <a:moveTo>
                    <a:pt x="22147" y="0"/>
                  </a:moveTo>
                  <a:lnTo>
                    <a:pt x="1223466" y="0"/>
                  </a:lnTo>
                  <a:cubicBezTo>
                    <a:pt x="1235698" y="0"/>
                    <a:pt x="1245613" y="9916"/>
                    <a:pt x="1245613" y="22147"/>
                  </a:cubicBezTo>
                  <a:lnTo>
                    <a:pt x="1245613" y="745573"/>
                  </a:lnTo>
                  <a:cubicBezTo>
                    <a:pt x="1245613" y="757805"/>
                    <a:pt x="1235698" y="767720"/>
                    <a:pt x="1223466" y="767720"/>
                  </a:cubicBezTo>
                  <a:lnTo>
                    <a:pt x="22147" y="767720"/>
                  </a:lnTo>
                  <a:cubicBezTo>
                    <a:pt x="9916" y="767720"/>
                    <a:pt x="0" y="757805"/>
                    <a:pt x="0" y="745573"/>
                  </a:cubicBezTo>
                  <a:lnTo>
                    <a:pt x="0" y="22147"/>
                  </a:lnTo>
                  <a:cubicBezTo>
                    <a:pt x="0" y="9916"/>
                    <a:pt x="9916" y="0"/>
                    <a:pt x="22147" y="0"/>
                  </a:cubicBezTo>
                  <a:close/>
                </a:path>
              </a:pathLst>
            </a:custGeom>
            <a:blipFill>
              <a:blip r:embed="rId3"/>
              <a:stretch>
                <a:fillRect t="-4082" b="-4082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5975149" y="-92375"/>
            <a:ext cx="2392744" cy="2730486"/>
          </a:xfrm>
          <a:custGeom>
            <a:avLst/>
            <a:gdLst/>
            <a:ahLst/>
            <a:cxnLst/>
            <a:rect l="l" t="t" r="r" b="b"/>
            <a:pathLst>
              <a:path w="3490153" h="4030833">
                <a:moveTo>
                  <a:pt x="0" y="0"/>
                </a:moveTo>
                <a:lnTo>
                  <a:pt x="3490154" y="0"/>
                </a:lnTo>
                <a:lnTo>
                  <a:pt x="3490154" y="4030833"/>
                </a:lnTo>
                <a:lnTo>
                  <a:pt x="0" y="403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719450" y="6786060"/>
            <a:ext cx="7315200" cy="3216072"/>
          </a:xfrm>
          <a:custGeom>
            <a:avLst/>
            <a:gdLst/>
            <a:ahLst/>
            <a:cxnLst/>
            <a:rect l="l" t="t" r="r" b="b"/>
            <a:pathLst>
              <a:path w="7315200" h="3216072">
                <a:moveTo>
                  <a:pt x="0" y="0"/>
                </a:moveTo>
                <a:lnTo>
                  <a:pt x="7315200" y="0"/>
                </a:lnTo>
                <a:lnTo>
                  <a:pt x="7315200" y="3216072"/>
                </a:lnTo>
                <a:lnTo>
                  <a:pt x="0" y="3216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9" name="TextBox 9"/>
          <p:cNvSpPr txBox="1"/>
          <p:nvPr/>
        </p:nvSpPr>
        <p:spPr>
          <a:xfrm>
            <a:off x="9273620" y="932067"/>
            <a:ext cx="8206861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Security Measures</a:t>
            </a:r>
            <a:endParaRPr lang="en-US" sz="6799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764540"/>
            <a:ext cx="2037799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endParaRPr lang="en-US" sz="1600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16610" y="764540"/>
            <a:ext cx="1259218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endParaRPr lang="en-US" sz="16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377051" y="764540"/>
            <a:ext cx="1259218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endParaRPr lang="en-US" sz="16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872472" y="764540"/>
            <a:ext cx="1259218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endParaRPr lang="en-US" sz="16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8141F610-5DFD-4146-B55F-63CF4387E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6229" y="2414683"/>
            <a:ext cx="7826804" cy="4435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strong secure passwords always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Avoid opening suspicious email attachments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Install antivirus on personal devices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Follow company security guidelines strictly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Attend regular security awareness training </a:t>
            </a:r>
          </a:p>
        </p:txBody>
      </p:sp>
      <p:pic>
        <p:nvPicPr>
          <p:cNvPr id="3074" name="Picture 2" descr="Comprehensive Guide to Personal Security: Prevention Measures, Risk  Assessment, and Advanced Strategies&quot;">
            <a:extLst>
              <a:ext uri="{FF2B5EF4-FFF2-40B4-BE49-F238E27FC236}">
                <a16:creationId xmlns:a16="http://schemas.microsoft.com/office/drawing/2014/main" id="{C5FD7D9E-9566-4DE8-9B32-B820076B0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72" y="5234826"/>
            <a:ext cx="7967042" cy="495300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7249" y="832078"/>
            <a:ext cx="1209416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9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Security Measures</a:t>
            </a:r>
            <a:endParaRPr lang="en-US" sz="6799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ACDB8B0-59E1-4226-86C6-717FD9676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18" y="2476500"/>
            <a:ext cx="11592823" cy="4435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Install firewalls and antivirus software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secure login access systems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Encrypt sensitive customer prescription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Maintain regular system data backups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Monitor security systems continuously 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8CA688CE-A110-442D-AA43-BDF09C37FD36}"/>
              </a:ext>
            </a:extLst>
          </p:cNvPr>
          <p:cNvSpPr/>
          <p:nvPr/>
        </p:nvSpPr>
        <p:spPr>
          <a:xfrm>
            <a:off x="3984439" y="7656899"/>
            <a:ext cx="4799785" cy="2226682"/>
          </a:xfrm>
          <a:custGeom>
            <a:avLst/>
            <a:gdLst/>
            <a:ahLst/>
            <a:cxnLst/>
            <a:rect l="l" t="t" r="r" b="b"/>
            <a:pathLst>
              <a:path w="6639005" h="4114800">
                <a:moveTo>
                  <a:pt x="0" y="0"/>
                </a:moveTo>
                <a:lnTo>
                  <a:pt x="6639005" y="0"/>
                </a:lnTo>
                <a:lnTo>
                  <a:pt x="66390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pic>
        <p:nvPicPr>
          <p:cNvPr id="4098" name="Picture 2" descr="10 Network Security Measures Hackers HATE | Medium">
            <a:extLst>
              <a:ext uri="{FF2B5EF4-FFF2-40B4-BE49-F238E27FC236}">
                <a16:creationId xmlns:a16="http://schemas.microsoft.com/office/drawing/2014/main" id="{4C7294D0-84D9-4B22-88A2-3B16AB7EC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8767" y="3012162"/>
            <a:ext cx="6979796" cy="4644737"/>
          </a:xfrm>
          <a:prstGeom prst="rect">
            <a:avLst/>
          </a:prstGeom>
          <a:noFill/>
          <a:scene3d>
            <a:camera prst="perspectiveHeroicExtremeLef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2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4627" y="495302"/>
            <a:ext cx="3594826" cy="7416330"/>
            <a:chOff x="-26891" y="-268455"/>
            <a:chExt cx="556933" cy="1148984"/>
          </a:xfrm>
        </p:grpSpPr>
        <p:sp>
          <p:nvSpPr>
            <p:cNvPr id="4" name="Freeform 4"/>
            <p:cNvSpPr/>
            <p:nvPr/>
          </p:nvSpPr>
          <p:spPr>
            <a:xfrm>
              <a:off x="-26891" y="-268455"/>
              <a:ext cx="556933" cy="1148984"/>
            </a:xfrm>
            <a:custGeom>
              <a:avLst/>
              <a:gdLst/>
              <a:ahLst/>
              <a:cxnLst/>
              <a:rect l="l" t="t" r="r" b="b"/>
              <a:pathLst>
                <a:path w="556933" h="1148984">
                  <a:moveTo>
                    <a:pt x="49533" y="0"/>
                  </a:moveTo>
                  <a:lnTo>
                    <a:pt x="507399" y="0"/>
                  </a:lnTo>
                  <a:cubicBezTo>
                    <a:pt x="520536" y="0"/>
                    <a:pt x="533135" y="5219"/>
                    <a:pt x="542425" y="14508"/>
                  </a:cubicBezTo>
                  <a:cubicBezTo>
                    <a:pt x="551714" y="23797"/>
                    <a:pt x="556933" y="36396"/>
                    <a:pt x="556933" y="49533"/>
                  </a:cubicBezTo>
                  <a:lnTo>
                    <a:pt x="556933" y="1099450"/>
                  </a:lnTo>
                  <a:cubicBezTo>
                    <a:pt x="556933" y="1112587"/>
                    <a:pt x="551714" y="1125186"/>
                    <a:pt x="542425" y="1134476"/>
                  </a:cubicBezTo>
                  <a:cubicBezTo>
                    <a:pt x="533135" y="1143765"/>
                    <a:pt x="520536" y="1148984"/>
                    <a:pt x="507399" y="1148984"/>
                  </a:cubicBezTo>
                  <a:lnTo>
                    <a:pt x="49533" y="1148984"/>
                  </a:lnTo>
                  <a:cubicBezTo>
                    <a:pt x="36396" y="1148984"/>
                    <a:pt x="23797" y="1143765"/>
                    <a:pt x="14508" y="1134476"/>
                  </a:cubicBezTo>
                  <a:cubicBezTo>
                    <a:pt x="5219" y="1125186"/>
                    <a:pt x="0" y="1112587"/>
                    <a:pt x="0" y="1099450"/>
                  </a:cubicBezTo>
                  <a:lnTo>
                    <a:pt x="0" y="49533"/>
                  </a:lnTo>
                  <a:cubicBezTo>
                    <a:pt x="0" y="36396"/>
                    <a:pt x="5219" y="23797"/>
                    <a:pt x="14508" y="14508"/>
                  </a:cubicBezTo>
                  <a:cubicBezTo>
                    <a:pt x="23797" y="5219"/>
                    <a:pt x="36396" y="0"/>
                    <a:pt x="49533" y="0"/>
                  </a:cubicBezTo>
                  <a:close/>
                </a:path>
              </a:pathLst>
            </a:custGeom>
            <a:blipFill>
              <a:blip r:embed="rId3"/>
              <a:stretch>
                <a:fillRect l="-32522" r="-32522"/>
              </a:stretch>
            </a:blipFill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7" name="Freeform 7"/>
          <p:cNvSpPr/>
          <p:nvPr/>
        </p:nvSpPr>
        <p:spPr>
          <a:xfrm>
            <a:off x="11940897" y="99257"/>
            <a:ext cx="6236961" cy="3217628"/>
          </a:xfrm>
          <a:custGeom>
            <a:avLst/>
            <a:gdLst/>
            <a:ahLst/>
            <a:cxnLst/>
            <a:rect l="l" t="t" r="r" b="b"/>
            <a:pathLst>
              <a:path w="6236961" h="4114800">
                <a:moveTo>
                  <a:pt x="0" y="0"/>
                </a:moveTo>
                <a:lnTo>
                  <a:pt x="6236961" y="0"/>
                </a:lnTo>
                <a:lnTo>
                  <a:pt x="623696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H="1">
            <a:off x="1140972" y="8146952"/>
            <a:ext cx="6236961" cy="1842816"/>
          </a:xfrm>
          <a:custGeom>
            <a:avLst/>
            <a:gdLst/>
            <a:ahLst/>
            <a:cxnLst/>
            <a:rect l="l" t="t" r="r" b="b"/>
            <a:pathLst>
              <a:path w="6236961" h="4114800">
                <a:moveTo>
                  <a:pt x="6236961" y="0"/>
                </a:moveTo>
                <a:lnTo>
                  <a:pt x="0" y="0"/>
                </a:lnTo>
                <a:lnTo>
                  <a:pt x="0" y="4114800"/>
                </a:lnTo>
                <a:lnTo>
                  <a:pt x="6236961" y="4114800"/>
                </a:lnTo>
                <a:lnTo>
                  <a:pt x="62369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9" name="TextBox 9"/>
          <p:cNvSpPr txBox="1"/>
          <p:nvPr/>
        </p:nvSpPr>
        <p:spPr>
          <a:xfrm>
            <a:off x="9371074" y="3743076"/>
            <a:ext cx="8777287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and Recovery</a:t>
            </a:r>
            <a:endParaRPr lang="en-US" sz="6799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FE4B061-F779-4464-8FCC-F25150FB5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7427" y="4827032"/>
            <a:ext cx="7357743" cy="3697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Backup systems protect important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Regular backups ensure quick recovery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storage provides secure backup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Recovery supports business continuity 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C99E435-95F8-420E-8473-433EA2C1BD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1429729"/>
              </p:ext>
            </p:extLst>
          </p:nvPr>
        </p:nvGraphicFramePr>
        <p:xfrm>
          <a:off x="5013242" y="495302"/>
          <a:ext cx="3594826" cy="7340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375030" y="4458131"/>
            <a:ext cx="7019659" cy="2578843"/>
            <a:chOff x="0" y="0"/>
            <a:chExt cx="1087529" cy="3995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7529" cy="399530"/>
            </a:xfrm>
            <a:custGeom>
              <a:avLst/>
              <a:gdLst/>
              <a:ahLst/>
              <a:cxnLst/>
              <a:rect l="l" t="t" r="r" b="b"/>
              <a:pathLst>
                <a:path w="1087529" h="399530">
                  <a:moveTo>
                    <a:pt x="25366" y="0"/>
                  </a:moveTo>
                  <a:lnTo>
                    <a:pt x="1062162" y="0"/>
                  </a:lnTo>
                  <a:cubicBezTo>
                    <a:pt x="1068890" y="0"/>
                    <a:pt x="1075342" y="2673"/>
                    <a:pt x="1080099" y="7430"/>
                  </a:cubicBezTo>
                  <a:cubicBezTo>
                    <a:pt x="1084856" y="12187"/>
                    <a:pt x="1087529" y="18639"/>
                    <a:pt x="1087529" y="25366"/>
                  </a:cubicBezTo>
                  <a:lnTo>
                    <a:pt x="1087529" y="374164"/>
                  </a:lnTo>
                  <a:cubicBezTo>
                    <a:pt x="1087529" y="380891"/>
                    <a:pt x="1084856" y="387343"/>
                    <a:pt x="1080099" y="392101"/>
                  </a:cubicBezTo>
                  <a:cubicBezTo>
                    <a:pt x="1075342" y="396858"/>
                    <a:pt x="1068890" y="399530"/>
                    <a:pt x="1062162" y="399530"/>
                  </a:cubicBezTo>
                  <a:lnTo>
                    <a:pt x="25366" y="399530"/>
                  </a:lnTo>
                  <a:cubicBezTo>
                    <a:pt x="18639" y="399530"/>
                    <a:pt x="12187" y="396858"/>
                    <a:pt x="7430" y="392101"/>
                  </a:cubicBezTo>
                  <a:cubicBezTo>
                    <a:pt x="2673" y="387343"/>
                    <a:pt x="0" y="380891"/>
                    <a:pt x="0" y="374164"/>
                  </a:cubicBezTo>
                  <a:lnTo>
                    <a:pt x="0" y="25366"/>
                  </a:lnTo>
                  <a:cubicBezTo>
                    <a:pt x="0" y="18639"/>
                    <a:pt x="2673" y="12187"/>
                    <a:pt x="7430" y="7430"/>
                  </a:cubicBezTo>
                  <a:cubicBezTo>
                    <a:pt x="12187" y="2673"/>
                    <a:pt x="18639" y="0"/>
                    <a:pt x="25366" y="0"/>
                  </a:cubicBezTo>
                  <a:close/>
                </a:path>
              </a:pathLst>
            </a:custGeom>
            <a:blipFill>
              <a:blip r:embed="rId3"/>
              <a:stretch>
                <a:fillRect t="-40733" b="-4073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439566" y="1104900"/>
            <a:ext cx="7019659" cy="2578843"/>
            <a:chOff x="0" y="0"/>
            <a:chExt cx="1087529" cy="3995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7529" cy="399530"/>
            </a:xfrm>
            <a:custGeom>
              <a:avLst/>
              <a:gdLst/>
              <a:ahLst/>
              <a:cxnLst/>
              <a:rect l="l" t="t" r="r" b="b"/>
              <a:pathLst>
                <a:path w="1087529" h="399530">
                  <a:moveTo>
                    <a:pt x="25366" y="0"/>
                  </a:moveTo>
                  <a:lnTo>
                    <a:pt x="1062162" y="0"/>
                  </a:lnTo>
                  <a:cubicBezTo>
                    <a:pt x="1068890" y="0"/>
                    <a:pt x="1075342" y="2673"/>
                    <a:pt x="1080099" y="7430"/>
                  </a:cubicBezTo>
                  <a:cubicBezTo>
                    <a:pt x="1084856" y="12187"/>
                    <a:pt x="1087529" y="18639"/>
                    <a:pt x="1087529" y="25366"/>
                  </a:cubicBezTo>
                  <a:lnTo>
                    <a:pt x="1087529" y="374164"/>
                  </a:lnTo>
                  <a:cubicBezTo>
                    <a:pt x="1087529" y="380891"/>
                    <a:pt x="1084856" y="387343"/>
                    <a:pt x="1080099" y="392101"/>
                  </a:cubicBezTo>
                  <a:cubicBezTo>
                    <a:pt x="1075342" y="396858"/>
                    <a:pt x="1068890" y="399530"/>
                    <a:pt x="1062162" y="399530"/>
                  </a:cubicBezTo>
                  <a:lnTo>
                    <a:pt x="25366" y="399530"/>
                  </a:lnTo>
                  <a:cubicBezTo>
                    <a:pt x="18639" y="399530"/>
                    <a:pt x="12187" y="396858"/>
                    <a:pt x="7430" y="392101"/>
                  </a:cubicBezTo>
                  <a:cubicBezTo>
                    <a:pt x="2673" y="387343"/>
                    <a:pt x="0" y="380891"/>
                    <a:pt x="0" y="374164"/>
                  </a:cubicBezTo>
                  <a:lnTo>
                    <a:pt x="0" y="25366"/>
                  </a:lnTo>
                  <a:cubicBezTo>
                    <a:pt x="0" y="18639"/>
                    <a:pt x="2673" y="12187"/>
                    <a:pt x="7430" y="7430"/>
                  </a:cubicBezTo>
                  <a:cubicBezTo>
                    <a:pt x="12187" y="2673"/>
                    <a:pt x="18639" y="0"/>
                    <a:pt x="25366" y="0"/>
                  </a:cubicBezTo>
                  <a:close/>
                </a:path>
              </a:pathLst>
            </a:custGeom>
            <a:blipFill>
              <a:blip r:embed="rId4"/>
              <a:stretch>
                <a:fillRect t="-40733" b="-40733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 rot="21014048">
            <a:off x="7697237" y="6919478"/>
            <a:ext cx="7315200" cy="2434107"/>
          </a:xfrm>
          <a:custGeom>
            <a:avLst/>
            <a:gdLst/>
            <a:ahLst/>
            <a:cxnLst/>
            <a:rect l="l" t="t" r="r" b="b"/>
            <a:pathLst>
              <a:path w="7315200" h="2434107">
                <a:moveTo>
                  <a:pt x="0" y="0"/>
                </a:moveTo>
                <a:lnTo>
                  <a:pt x="7315200" y="0"/>
                </a:lnTo>
                <a:lnTo>
                  <a:pt x="7315200" y="2434107"/>
                </a:lnTo>
                <a:lnTo>
                  <a:pt x="0" y="24341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885288" y="499561"/>
            <a:ext cx="6343790" cy="2225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Supports Decisions</a:t>
            </a:r>
            <a:endParaRPr lang="en-US" sz="7200" b="1" dirty="0">
              <a:solidFill>
                <a:srgbClr val="FFFFFF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DCDDDD-554C-4A39-A791-ED5826449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3313" y="2566301"/>
            <a:ext cx="7321502" cy="3697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Sales data shows medicine demand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Inventory data controls stock levels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Prescription data supports patient safety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Planning becomes faster and reliable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338"/>
            <a:ext cx="18288000" cy="1027566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18" name="Freeform 18"/>
          <p:cNvSpPr/>
          <p:nvPr/>
        </p:nvSpPr>
        <p:spPr>
          <a:xfrm>
            <a:off x="305180" y="8319503"/>
            <a:ext cx="5259659" cy="792467"/>
          </a:xfrm>
          <a:custGeom>
            <a:avLst/>
            <a:gdLst/>
            <a:ahLst/>
            <a:cxnLst/>
            <a:rect l="l" t="t" r="r" b="b"/>
            <a:pathLst>
              <a:path w="5259659" h="792467">
                <a:moveTo>
                  <a:pt x="0" y="0"/>
                </a:moveTo>
                <a:lnTo>
                  <a:pt x="5259659" y="0"/>
                </a:lnTo>
                <a:lnTo>
                  <a:pt x="5259659" y="792468"/>
                </a:lnTo>
                <a:lnTo>
                  <a:pt x="0" y="792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268200" y="368306"/>
            <a:ext cx="5259659" cy="792467"/>
          </a:xfrm>
          <a:custGeom>
            <a:avLst/>
            <a:gdLst/>
            <a:ahLst/>
            <a:cxnLst/>
            <a:rect l="l" t="t" r="r" b="b"/>
            <a:pathLst>
              <a:path w="5259659" h="792467">
                <a:moveTo>
                  <a:pt x="0" y="0"/>
                </a:moveTo>
                <a:lnTo>
                  <a:pt x="5259659" y="0"/>
                </a:lnTo>
                <a:lnTo>
                  <a:pt x="5259659" y="792468"/>
                </a:lnTo>
                <a:lnTo>
                  <a:pt x="0" y="792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15012" y="1341517"/>
            <a:ext cx="1209416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Performance</a:t>
            </a:r>
            <a:endParaRPr lang="en-US" sz="6799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189144" y="10579223"/>
            <a:ext cx="6014851" cy="355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.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294074CF-573B-4743-8A7C-47668D6A0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769632"/>
            <a:ext cx="8331200" cy="3697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reduces manual human errors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Faster system improves customer service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Monitoring prevents expired medicine sales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Efficiency increases staff productivity </a:t>
            </a:r>
          </a:p>
        </p:txBody>
      </p:sp>
      <p:pic>
        <p:nvPicPr>
          <p:cNvPr id="6150" name="Picture 6" descr="Paul Campbell, Former Chief Innovation Officer, W. L. Gore &amp; Associates,  Author at Innovation Workshop &amp; Tour Quarterly Series">
            <a:extLst>
              <a:ext uri="{FF2B5EF4-FFF2-40B4-BE49-F238E27FC236}">
                <a16:creationId xmlns:a16="http://schemas.microsoft.com/office/drawing/2014/main" id="{407E0164-E716-42F7-B662-ED0380CD0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3314700"/>
            <a:ext cx="6969670" cy="4644632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90322" y="555249"/>
            <a:ext cx="7644078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Implications</a:t>
            </a:r>
            <a:endParaRPr lang="en-US" sz="6799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112031" y="1811772"/>
            <a:ext cx="7019659" cy="7416330"/>
            <a:chOff x="0" y="0"/>
            <a:chExt cx="1087529" cy="11489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7529" cy="1148984"/>
            </a:xfrm>
            <a:custGeom>
              <a:avLst/>
              <a:gdLst/>
              <a:ahLst/>
              <a:cxnLst/>
              <a:rect l="l" t="t" r="r" b="b"/>
              <a:pathLst>
                <a:path w="1087529" h="1148984">
                  <a:moveTo>
                    <a:pt x="25366" y="0"/>
                  </a:moveTo>
                  <a:lnTo>
                    <a:pt x="1062162" y="0"/>
                  </a:lnTo>
                  <a:cubicBezTo>
                    <a:pt x="1068890" y="0"/>
                    <a:pt x="1075342" y="2673"/>
                    <a:pt x="1080099" y="7430"/>
                  </a:cubicBezTo>
                  <a:cubicBezTo>
                    <a:pt x="1084856" y="12187"/>
                    <a:pt x="1087529" y="18639"/>
                    <a:pt x="1087529" y="25366"/>
                  </a:cubicBezTo>
                  <a:lnTo>
                    <a:pt x="1087529" y="1123617"/>
                  </a:lnTo>
                  <a:cubicBezTo>
                    <a:pt x="1087529" y="1130345"/>
                    <a:pt x="1084856" y="1136797"/>
                    <a:pt x="1080099" y="1141554"/>
                  </a:cubicBezTo>
                  <a:cubicBezTo>
                    <a:pt x="1075342" y="1146311"/>
                    <a:pt x="1068890" y="1148984"/>
                    <a:pt x="1062162" y="1148984"/>
                  </a:cubicBezTo>
                  <a:lnTo>
                    <a:pt x="25366" y="1148984"/>
                  </a:lnTo>
                  <a:cubicBezTo>
                    <a:pt x="18639" y="1148984"/>
                    <a:pt x="12187" y="1146311"/>
                    <a:pt x="7430" y="1141554"/>
                  </a:cubicBezTo>
                  <a:cubicBezTo>
                    <a:pt x="2673" y="1136797"/>
                    <a:pt x="0" y="1130345"/>
                    <a:pt x="0" y="1123617"/>
                  </a:cubicBezTo>
                  <a:lnTo>
                    <a:pt x="0" y="25366"/>
                  </a:lnTo>
                  <a:cubicBezTo>
                    <a:pt x="0" y="18639"/>
                    <a:pt x="2673" y="12187"/>
                    <a:pt x="7430" y="7430"/>
                  </a:cubicBezTo>
                  <a:cubicBezTo>
                    <a:pt x="12187" y="2673"/>
                    <a:pt x="18639" y="0"/>
                    <a:pt x="25366" y="0"/>
                  </a:cubicBezTo>
                  <a:close/>
                </a:path>
              </a:pathLst>
            </a:custGeom>
            <a:blipFill>
              <a:blip r:embed="rId3"/>
              <a:stretch>
                <a:fillRect l="-28187" r="-28187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156310" y="6667500"/>
            <a:ext cx="6059159" cy="2928593"/>
          </a:xfrm>
          <a:custGeom>
            <a:avLst/>
            <a:gdLst/>
            <a:ahLst/>
            <a:cxnLst/>
            <a:rect l="l" t="t" r="r" b="b"/>
            <a:pathLst>
              <a:path w="6059159" h="2928593">
                <a:moveTo>
                  <a:pt x="0" y="0"/>
                </a:moveTo>
                <a:lnTo>
                  <a:pt x="6059158" y="0"/>
                </a:lnTo>
                <a:lnTo>
                  <a:pt x="6059158" y="2928593"/>
                </a:lnTo>
                <a:lnTo>
                  <a:pt x="0" y="2928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16A92F7-9236-4625-BC7C-6EF46ED94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206" y="1469601"/>
            <a:ext cx="7836310" cy="4435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systems improve company reputation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Legal compliance reduces penalty risks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supports long-term business growth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Responsible use ensures business   sustainability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/>
          <p:cNvSpPr/>
          <p:nvPr/>
        </p:nvSpPr>
        <p:spPr>
          <a:xfrm>
            <a:off x="-467410" y="7351859"/>
            <a:ext cx="3490153" cy="4030833"/>
          </a:xfrm>
          <a:custGeom>
            <a:avLst/>
            <a:gdLst/>
            <a:ahLst/>
            <a:cxnLst/>
            <a:rect l="l" t="t" r="r" b="b"/>
            <a:pathLst>
              <a:path w="3490153" h="4030833">
                <a:moveTo>
                  <a:pt x="0" y="0"/>
                </a:moveTo>
                <a:lnTo>
                  <a:pt x="3490153" y="0"/>
                </a:lnTo>
                <a:lnTo>
                  <a:pt x="3490153" y="4030832"/>
                </a:lnTo>
                <a:lnTo>
                  <a:pt x="0" y="4030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053449" y="-10246"/>
            <a:ext cx="3490153" cy="4030833"/>
          </a:xfrm>
          <a:custGeom>
            <a:avLst/>
            <a:gdLst/>
            <a:ahLst/>
            <a:cxnLst/>
            <a:rect l="l" t="t" r="r" b="b"/>
            <a:pathLst>
              <a:path w="3490153" h="4030833">
                <a:moveTo>
                  <a:pt x="0" y="0"/>
                </a:moveTo>
                <a:lnTo>
                  <a:pt x="3490154" y="0"/>
                </a:lnTo>
                <a:lnTo>
                  <a:pt x="3490154" y="4030833"/>
                </a:lnTo>
                <a:lnTo>
                  <a:pt x="0" y="4030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-2514600" y="723900"/>
            <a:ext cx="13866665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6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pic>
        <p:nvPicPr>
          <p:cNvPr id="7174" name="Picture 6" descr="Conclusion and Call to Action">
            <a:extLst>
              <a:ext uri="{FF2B5EF4-FFF2-40B4-BE49-F238E27FC236}">
                <a16:creationId xmlns:a16="http://schemas.microsoft.com/office/drawing/2014/main" id="{2A45207B-6969-448B-A3BE-5875C122F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20"/>
          <p:cNvSpPr txBox="1"/>
          <p:nvPr/>
        </p:nvSpPr>
        <p:spPr>
          <a:xfrm>
            <a:off x="990600" y="4533900"/>
            <a:ext cx="8610600" cy="4055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Legal </a:t>
            </a:r>
            <a:r>
              <a:rPr lang="en-GB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responsibilities must follow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threats exist to data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Security measures protect organizational systems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improves performance and decisions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8267808" y="6069326"/>
            <a:ext cx="9447371" cy="959077"/>
            <a:chOff x="0" y="0"/>
            <a:chExt cx="976614" cy="991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6614" cy="99144"/>
            </a:xfrm>
            <a:custGeom>
              <a:avLst/>
              <a:gdLst/>
              <a:ahLst/>
              <a:cxnLst/>
              <a:rect l="l" t="t" r="r" b="b"/>
              <a:pathLst>
                <a:path w="976614" h="99144">
                  <a:moveTo>
                    <a:pt x="41793" y="0"/>
                  </a:moveTo>
                  <a:lnTo>
                    <a:pt x="934821" y="0"/>
                  </a:lnTo>
                  <a:cubicBezTo>
                    <a:pt x="945905" y="0"/>
                    <a:pt x="956535" y="4403"/>
                    <a:pt x="964373" y="12241"/>
                  </a:cubicBezTo>
                  <a:cubicBezTo>
                    <a:pt x="972211" y="20079"/>
                    <a:pt x="976614" y="30709"/>
                    <a:pt x="976614" y="41793"/>
                  </a:cubicBezTo>
                  <a:lnTo>
                    <a:pt x="976614" y="57350"/>
                  </a:lnTo>
                  <a:cubicBezTo>
                    <a:pt x="976614" y="68435"/>
                    <a:pt x="972211" y="79065"/>
                    <a:pt x="964373" y="86903"/>
                  </a:cubicBezTo>
                  <a:cubicBezTo>
                    <a:pt x="956535" y="94741"/>
                    <a:pt x="945905" y="99144"/>
                    <a:pt x="934821" y="99144"/>
                  </a:cubicBezTo>
                  <a:lnTo>
                    <a:pt x="41793" y="99144"/>
                  </a:lnTo>
                  <a:cubicBezTo>
                    <a:pt x="30709" y="99144"/>
                    <a:pt x="20079" y="94741"/>
                    <a:pt x="12241" y="86903"/>
                  </a:cubicBezTo>
                  <a:cubicBezTo>
                    <a:pt x="4403" y="79065"/>
                    <a:pt x="0" y="68435"/>
                    <a:pt x="0" y="57350"/>
                  </a:cubicBezTo>
                  <a:lnTo>
                    <a:pt x="0" y="41793"/>
                  </a:lnTo>
                  <a:cubicBezTo>
                    <a:pt x="0" y="30709"/>
                    <a:pt x="4403" y="20079"/>
                    <a:pt x="12241" y="12241"/>
                  </a:cubicBezTo>
                  <a:cubicBezTo>
                    <a:pt x="20079" y="4403"/>
                    <a:pt x="30709" y="0"/>
                    <a:pt x="41793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76614" cy="137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763" y="0"/>
            <a:ext cx="8191392" cy="10212027"/>
            <a:chOff x="0" y="0"/>
            <a:chExt cx="1087529" cy="1148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7529" cy="1148984"/>
            </a:xfrm>
            <a:custGeom>
              <a:avLst/>
              <a:gdLst/>
              <a:ahLst/>
              <a:cxnLst/>
              <a:rect l="l" t="t" r="r" b="b"/>
              <a:pathLst>
                <a:path w="1087529" h="1148984">
                  <a:moveTo>
                    <a:pt x="25366" y="0"/>
                  </a:moveTo>
                  <a:lnTo>
                    <a:pt x="1062162" y="0"/>
                  </a:lnTo>
                  <a:cubicBezTo>
                    <a:pt x="1068890" y="0"/>
                    <a:pt x="1075342" y="2673"/>
                    <a:pt x="1080099" y="7430"/>
                  </a:cubicBezTo>
                  <a:cubicBezTo>
                    <a:pt x="1084856" y="12187"/>
                    <a:pt x="1087529" y="18639"/>
                    <a:pt x="1087529" y="25366"/>
                  </a:cubicBezTo>
                  <a:lnTo>
                    <a:pt x="1087529" y="1123617"/>
                  </a:lnTo>
                  <a:cubicBezTo>
                    <a:pt x="1087529" y="1130345"/>
                    <a:pt x="1084856" y="1136797"/>
                    <a:pt x="1080099" y="1141554"/>
                  </a:cubicBezTo>
                  <a:cubicBezTo>
                    <a:pt x="1075342" y="1146311"/>
                    <a:pt x="1068890" y="1148984"/>
                    <a:pt x="1062162" y="1148984"/>
                  </a:cubicBezTo>
                  <a:lnTo>
                    <a:pt x="25366" y="1148984"/>
                  </a:lnTo>
                  <a:cubicBezTo>
                    <a:pt x="18639" y="1148984"/>
                    <a:pt x="12187" y="1146311"/>
                    <a:pt x="7430" y="1141554"/>
                  </a:cubicBezTo>
                  <a:cubicBezTo>
                    <a:pt x="2673" y="1136797"/>
                    <a:pt x="0" y="1130345"/>
                    <a:pt x="0" y="1123617"/>
                  </a:cubicBezTo>
                  <a:lnTo>
                    <a:pt x="0" y="25366"/>
                  </a:lnTo>
                  <a:cubicBezTo>
                    <a:pt x="0" y="18639"/>
                    <a:pt x="2673" y="12187"/>
                    <a:pt x="7430" y="7430"/>
                  </a:cubicBezTo>
                  <a:cubicBezTo>
                    <a:pt x="12187" y="2673"/>
                    <a:pt x="18639" y="0"/>
                    <a:pt x="25366" y="0"/>
                  </a:cubicBezTo>
                  <a:close/>
                </a:path>
              </a:pathLst>
            </a:custGeom>
            <a:blipFill>
              <a:blip r:embed="rId3"/>
              <a:stretch>
                <a:fillRect l="-16031" r="-16031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4757004" y="-509793"/>
            <a:ext cx="3490153" cy="4030833"/>
          </a:xfrm>
          <a:custGeom>
            <a:avLst/>
            <a:gdLst/>
            <a:ahLst/>
            <a:cxnLst/>
            <a:rect l="l" t="t" r="r" b="b"/>
            <a:pathLst>
              <a:path w="3490153" h="4030833">
                <a:moveTo>
                  <a:pt x="0" y="0"/>
                </a:moveTo>
                <a:lnTo>
                  <a:pt x="3490153" y="0"/>
                </a:lnTo>
                <a:lnTo>
                  <a:pt x="3490153" y="4030832"/>
                </a:lnTo>
                <a:lnTo>
                  <a:pt x="0" y="4030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10" name="TextBox 10"/>
          <p:cNvSpPr txBox="1"/>
          <p:nvPr/>
        </p:nvSpPr>
        <p:spPr>
          <a:xfrm>
            <a:off x="7765179" y="3685465"/>
            <a:ext cx="10727255" cy="2278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64"/>
              </a:lnSpc>
            </a:pPr>
            <a:r>
              <a:rPr lang="en-US" sz="15251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Thank You!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5000" y="6086403"/>
            <a:ext cx="7207615" cy="82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Stay Safe, Stay Smart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451</Words>
  <Application>Microsoft Office PowerPoint</Application>
  <PresentationFormat>Custom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Perpetua Titling MT</vt:lpstr>
      <vt:lpstr>Playfair Display</vt:lpstr>
      <vt:lpstr>Arial</vt:lpstr>
      <vt:lpstr>Playfair Display Bold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Silver Modern Cyber Security Presentation</dc:title>
  <cp:lastModifiedBy>Afry Nizam</cp:lastModifiedBy>
  <cp:revision>36</cp:revision>
  <dcterms:created xsi:type="dcterms:W3CDTF">2006-08-16T00:00:00Z</dcterms:created>
  <dcterms:modified xsi:type="dcterms:W3CDTF">2026-06-11T04:20:14Z</dcterms:modified>
  <dc:identifier>DAHFPQ7YXuY</dc:identifier>
</cp:coreProperties>
</file>